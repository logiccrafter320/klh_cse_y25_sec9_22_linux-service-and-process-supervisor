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0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09560" y="594360"/>
            <a:ext cx="3794760" cy="5669280"/>
          </a:xfrm>
          <a:prstGeom prst="roundRect">
            <a:avLst>
              <a:gd name="adj" fmla="val 4000"/>
            </a:avLst>
          </a:prstGeom>
          <a:solidFill>
            <a:srgbClr val="3B1476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5943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691640" cy="6591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0" y="749808"/>
            <a:ext cx="4846320" cy="658368"/>
          </a:xfrm>
          <a:prstGeom prst="roundRect">
            <a:avLst>
              <a:gd name="adj" fmla="val 15000"/>
            </a:avLst>
          </a:prstGeom>
          <a:solidFill>
            <a:srgbClr val="4C1D95"/>
          </a:solidFill>
          <a:ln w="1524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8412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DE9FE"/>
                </a:solidFill>
                <a:latin typeface="Calibri"/>
              </a:rPr>
              <a:t>OPERATING SYSTEMS &amp; SYSTEMS PROGRAMMING (25CS2104E)
2026–27, Term-I  |  KLH Bachupally, Hyderabad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7086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Linux Service and
Process Supervisor</a:t>
            </a:r>
          </a:p>
          <a:p>
            <a:r>
              <a:rPr sz="1550">
                <a:solidFill>
                  <a:srgbClr val="DDD6FE"/>
                </a:solidFill>
                <a:latin typeface="Calibri"/>
              </a:rPr>
              <a:t>A Lightweight Multithreaded C Supervision Engine &amp; Real-Time Web Console for Automated Process Lifecycle Control, Signal Dispatch, POSIX IPC &amp; /proc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800600"/>
            <a:ext cx="6995160" cy="1417320"/>
          </a:xfrm>
          <a:prstGeom prst="roundRect">
            <a:avLst>
              <a:gd name="adj" fmla="val 6000"/>
            </a:avLst>
          </a:prstGeom>
          <a:solidFill>
            <a:srgbClr val="36126E"/>
          </a:solidFill>
          <a:ln w="165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956048"/>
            <a:ext cx="6583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>
                <a:solidFill>
                  <a:srgbClr val="C4B5FD"/>
                </a:solidFill>
                <a:latin typeface="Calibri"/>
              </a:rPr>
              <a:t>Section: S9   |   Team No.: 22   |   Course Outcomes Covered: CO-1 to CO-6
</a:t>
            </a:r>
          </a:p>
          <a:p>
            <a:r>
              <a:rPr sz="1800" b="1">
                <a:solidFill>
                  <a:srgbClr val="FBBF24"/>
                </a:solidFill>
                <a:latin typeface="Calibri"/>
              </a:rPr>
              <a:t>Faculty Guide:  Dr. Y. Harika Devi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804672"/>
            <a:ext cx="3337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B5FD"/>
                </a:solidFill>
                <a:latin typeface="Calibri"/>
              </a:rPr>
              <a:t>PROJECT TEAM MEMBERS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1353312"/>
            <a:ext cx="3310128" cy="1097280"/>
          </a:xfrm>
          <a:prstGeom prst="roundRect">
            <a:avLst>
              <a:gd name="adj" fmla="val 8000"/>
            </a:avLst>
          </a:prstGeom>
          <a:solidFill>
            <a:srgbClr val="4C1D9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G. Jothi Ganesh
</a:t>
            </a:r>
            <a:r>
              <a:rPr sz="1150" b="1">
                <a:solidFill>
                  <a:srgbClr val="FBBF24"/>
                </a:solidFill>
                <a:latin typeface="Calibri"/>
              </a:rPr>
              <a:t>Roll No: 2520030252
</a:t>
            </a:r>
            <a:r>
              <a:rPr sz="1050">
                <a:solidFill>
                  <a:srgbClr val="E9D5FF"/>
                </a:solidFill>
                <a:latin typeface="Calibri"/>
              </a:rPr>
              <a:t>Process Monitoring &amp; /proc Telemetry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615184"/>
            <a:ext cx="3310128" cy="1097280"/>
          </a:xfrm>
          <a:prstGeom prst="roundRect">
            <a:avLst>
              <a:gd name="adj" fmla="val 8000"/>
            </a:avLst>
          </a:prstGeom>
          <a:solidFill>
            <a:srgbClr val="4C1D9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724912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V. Nitish Chowdhary
</a:t>
            </a:r>
            <a:r>
              <a:rPr sz="1150" b="1">
                <a:solidFill>
                  <a:srgbClr val="FBBF24"/>
                </a:solidFill>
                <a:latin typeface="Calibri"/>
              </a:rPr>
              <a:t>Roll No: 2520030179
</a:t>
            </a:r>
            <a:r>
              <a:rPr sz="1050">
                <a:solidFill>
                  <a:srgbClr val="E9D5FF"/>
                </a:solidFill>
                <a:latin typeface="Calibri"/>
              </a:rPr>
              <a:t>Signals, Control &amp; Auto-Restart Engine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3877056"/>
            <a:ext cx="3310128" cy="1097280"/>
          </a:xfrm>
          <a:prstGeom prst="roundRect">
            <a:avLst>
              <a:gd name="adj" fmla="val 8000"/>
            </a:avLst>
          </a:prstGeom>
          <a:solidFill>
            <a:srgbClr val="4C1D95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986784"/>
            <a:ext cx="30175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Calibri"/>
              </a:rPr>
              <a:t>P. Santhosh
</a:t>
            </a:r>
            <a:r>
              <a:rPr sz="1150" b="1">
                <a:solidFill>
                  <a:srgbClr val="FBBF24"/>
                </a:solidFill>
                <a:latin typeface="Calibri"/>
              </a:rPr>
              <a:t>Roll No: 2520030330
</a:t>
            </a:r>
            <a:r>
              <a:rPr sz="1050">
                <a:solidFill>
                  <a:srgbClr val="E9D5FF"/>
                </a:solidFill>
                <a:latin typeface="Calibri"/>
              </a:rPr>
              <a:t>Web UI, Event Logging &amp; Testing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5230368"/>
            <a:ext cx="3310128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5" y="5303520"/>
            <a:ext cx="658368" cy="6583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15984" y="5340096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A0E5C"/>
                </a:solidFill>
                <a:latin typeface="Calibri"/>
              </a:rPr>
              <a:t>GitHub Repository
KLH_CSE_Y25_SEC9_22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01 • OVERVIEW
</a:t>
            </a:r>
            <a:r>
              <a:rPr sz="2200" b="1">
                <a:solidFill>
                  <a:srgbClr val="FFFFFF"/>
                </a:solidFill>
                <a:latin typeface="Calibri"/>
              </a:rPr>
              <a:t>Abstract &amp; 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2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903720" cy="5166360"/>
          </a:xfrm>
          <a:prstGeom prst="roundRect">
            <a:avLst>
              <a:gd name="adj" fmla="val 3500"/>
            </a:avLst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25295"/>
            <a:ext cx="6574536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78350F"/>
                </a:solidFill>
                <a:latin typeface="Calibri"/>
              </a:rPr>
              <a:t>Project Abstract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Motivation: </a:t>
            </a:r>
            <a:r>
              <a:rPr sz="1300">
                <a:solidFill>
                  <a:srgbClr val="334155"/>
                </a:solidFill>
                <a:latin typeface="Calibri"/>
              </a:rPr>
              <a:t>In multitasking Linux environments, critical background services and daemons execute concurrently. Manual CLI monitoring (ps, top, kill) is error-prone and leads to silent service downtime, zombie processes, or uncontrolled memory consumption.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Proposed Solution: </a:t>
            </a:r>
            <a:r>
              <a:rPr sz="1300">
                <a:solidFill>
                  <a:srgbClr val="334155"/>
                </a:solidFill>
                <a:latin typeface="Calibri"/>
              </a:rPr>
              <a:t>Linux Service and Process Supervisor is a lightweight C systems programming platform paired with a real-time Web Console that centralizes process creation, monitoring, signal dispatch, IPC, and automated fault recovery.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Core Linux / POSIX Mechanisms: </a:t>
            </a:r>
            <a:r>
              <a:rPr sz="1300">
                <a:solidFill>
                  <a:srgbClr val="334155"/>
                </a:solidFill>
                <a:latin typeface="Calibri"/>
              </a:rPr>
              <a:t>Built in modular GNU C11 using fork(), execvp(), getpid()/setpgid(), waitpid(WNOHANG), sigaction()/kill(), anonymous pipes, named FIFOs (/tmp/supervisor_fifo), POSIX shared memory (shm_open/mmap), 4-worker pthread pools, and /proc VFS inspection.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Practical Benefit: </a:t>
            </a:r>
            <a:r>
              <a:rPr sz="1300">
                <a:solidFill>
                  <a:srgbClr val="334155"/>
                </a:solidFill>
                <a:latin typeface="Calibri"/>
              </a:rPr>
              <a:t>Automatically detects unexpected process termination (SIGKILL/SIGSEGV) within 200 ms and restarts failed services according to policy while streaming live telemetry to both CLI and browser interfaces.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1097280"/>
            <a:ext cx="4160520" cy="1188720"/>
          </a:xfrm>
          <a:prstGeom prst="roundRect">
            <a:avLst>
              <a:gd name="adj" fmla="val 35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35824" y="11887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Calibri"/>
              </a:rPr>
              <a:t>64 Services  —  </a:t>
            </a:r>
            <a:r>
              <a:rPr sz="1200" b="1">
                <a:solidFill>
                  <a:srgbClr val="0F172A"/>
                </a:solidFill>
                <a:latin typeface="Calibri"/>
              </a:rPr>
              <a:t>Concurrent Managed Processes
</a:t>
            </a:r>
            <a:r>
              <a:rPr sz="1050">
                <a:solidFill>
                  <a:srgbClr val="334155"/>
                </a:solidFill>
                <a:latin typeface="Calibri"/>
              </a:rPr>
              <a:t>Configured declaratively via services.conf with priority &amp; command specs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2414015"/>
            <a:ext cx="4160520" cy="1188720"/>
          </a:xfrm>
          <a:prstGeom prst="roundRect">
            <a:avLst>
              <a:gd name="adj" fmla="val 3500"/>
            </a:avLst>
          </a:prstGeom>
          <a:solidFill>
            <a:srgbClr val="FFE4E6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35824" y="2505456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BE123C"/>
                </a:solidFill>
                <a:latin typeface="Calibri"/>
              </a:rPr>
              <a:t>&lt; 200 ms  —  </a:t>
            </a:r>
            <a:r>
              <a:rPr sz="1200" b="1">
                <a:solidFill>
                  <a:srgbClr val="0F172A"/>
                </a:solidFill>
                <a:latin typeface="Calibri"/>
              </a:rPr>
              <a:t>Crash Detection &amp; Auto-Restart
</a:t>
            </a:r>
            <a:r>
              <a:rPr sz="1050">
                <a:solidFill>
                  <a:srgbClr val="334155"/>
                </a:solidFill>
                <a:latin typeface="Calibri"/>
              </a:rPr>
              <a:t>Dedicated watchdog thread using waitpid(WNOHANG) &amp; SIGCHLD handler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3730752"/>
            <a:ext cx="4160520" cy="1188720"/>
          </a:xfrm>
          <a:prstGeom prst="roundRect">
            <a:avLst>
              <a:gd name="adj" fmla="val 3500"/>
            </a:avLst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35824" y="3822191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Calibri"/>
              </a:rPr>
              <a:t>12 C Modules  —  </a:t>
            </a:r>
            <a:r>
              <a:rPr sz="1200" b="1">
                <a:solidFill>
                  <a:srgbClr val="0F172A"/>
                </a:solidFill>
                <a:latin typeface="Calibri"/>
              </a:rPr>
              <a:t>Modular POSIX Engine (~2,100 LOC)
</a:t>
            </a:r>
            <a:r>
              <a:rPr sz="1050">
                <a:solidFill>
                  <a:srgbClr val="334155"/>
                </a:solidFill>
                <a:latin typeface="Calibri"/>
              </a:rPr>
              <a:t>Integrated with C HTTP socket (:8080) &amp; React/Node WebSocket UI (:3000)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5047488"/>
            <a:ext cx="4160520" cy="1188720"/>
          </a:xfrm>
          <a:prstGeom prst="roundRect">
            <a:avLst>
              <a:gd name="adj" fmla="val 3500"/>
            </a:avLst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35824" y="5138928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5803D"/>
                </a:solidFill>
                <a:latin typeface="Calibri"/>
              </a:rPr>
              <a:t>CO-1 → CO-6  —  </a:t>
            </a:r>
            <a:r>
              <a:rPr sz="1200" b="1">
                <a:solidFill>
                  <a:srgbClr val="0F172A"/>
                </a:solidFill>
                <a:latin typeface="Calibri"/>
              </a:rPr>
              <a:t>Full OSSP Syllabus Alignment
</a:t>
            </a:r>
            <a:r>
              <a:rPr sz="1050">
                <a:solidFill>
                  <a:srgbClr val="334155"/>
                </a:solidFill>
                <a:latin typeface="Calibri"/>
              </a:rPr>
              <a:t>Covers Processes, Scheduling, IPC, Memory, /proc VFS &amp; Pthread Sync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02 • PROBLEM DEFINITION
</a:t>
            </a:r>
            <a:r>
              <a:rPr sz="2200" b="1">
                <a:solidFill>
                  <a:srgbClr val="FFFFFF"/>
                </a:solidFill>
                <a:latin typeface="Calibri"/>
              </a:rPr>
              <a:t>Problem Statement, Objectives &amp;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3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78992"/>
            <a:ext cx="11277295" cy="1207008"/>
          </a:xfrm>
          <a:prstGeom prst="roundRect">
            <a:avLst>
              <a:gd name="adj" fmla="val 3500"/>
            </a:avLst>
          </a:prstGeom>
          <a:solidFill>
            <a:srgbClr val="FFE4E6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07007"/>
            <a:ext cx="10948111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BE123C"/>
                </a:solidFill>
                <a:latin typeface="Calibri"/>
              </a:rPr>
              <a:t>Problem Statement</a:t>
            </a:r>
          </a:p>
          <a:p>
            <a:pPr>
              <a:spcAft>
                <a:spcPts val="2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In a multitasking Linux OS, multiple background services run simultaneously and can terminate unexpectedly, hang, leak memory/FDs, or fail to restart after a crash. Without centralized automated supervision, maintaining high service availability and clean process reaping is difficult.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50592"/>
            <a:ext cx="3639312" cy="1335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578608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Objective 1: Process Creation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Spawn &amp; execute managed daemons cleanly using fork(), execvp(), and process group isolation setpgid().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2450592"/>
            <a:ext cx="3639312" cy="1335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43983" y="2578608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Objective 2: PID &amp; /proc Tracking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Identify &amp; monitor live process state, VmSize, VmRSS, threads, and FDs via getpid() and /proc/[pid] VFS.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2450592"/>
            <a:ext cx="3639312" cy="1335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2578608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Objective 3: Lifecycle Control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Provide Start, Stop, Restart, Pause, Resume, &amp; Kill operations via SIGTERM, SIGSTOP, SIGCONT, and SIGKILL.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639312" cy="1335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4059936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Objective 4: Crash Auto-Restart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Detect unexpected exits asynchronously via SIGCHLD + waitpid(WNOHANG) and auto-respawn failed services.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9392" y="3931920"/>
            <a:ext cx="3639312" cy="1335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43983" y="4059936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Objective 5: Multi-Channel IPC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Capture child stdout via pipe()/dup2(), accept external commands on /tmp/supervisor_fifo, &amp; sync /supervisor_shm.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3931920"/>
            <a:ext cx="3639312" cy="1335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4059936"/>
            <a:ext cx="3310128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Objective 6: Unified Interfaces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Deliver both a 40-option interactive C CLI and a real-time Web Console (C HTTP :8080 &amp; React/Node :3000).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49824"/>
            <a:ext cx="11277295" cy="877824"/>
          </a:xfrm>
          <a:prstGeom prst="roundRect">
            <a:avLst>
              <a:gd name="adj" fmla="val 3500"/>
            </a:avLst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5577840"/>
            <a:ext cx="10948111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Project Scope &amp; Boundaries: </a:t>
            </a:r>
            <a:r>
              <a:rPr sz="1200">
                <a:solidFill>
                  <a:srgbClr val="334155"/>
                </a:solidFill>
                <a:latin typeface="Calibri"/>
              </a:rPr>
              <a:t>Targets single-host Linux / Ubuntu &amp; WSL2 user-space service supervision (up to 64 concurrent processes, Priority/RR/FCFS scheduling, 4-worker pthread pool); excludes kernel-space module patching or multi-host cluster orchestration.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03 • COMPARATIVE ANALYSIS
</a:t>
            </a:r>
            <a:r>
              <a:rPr sz="2200" b="1">
                <a:solidFill>
                  <a:srgbClr val="FFFFFF"/>
                </a:solidFill>
                <a:latin typeface="Calibri"/>
              </a:rPr>
              <a:t>Existing Approach vs Proposed Supervisor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4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115568"/>
          <a:ext cx="1127729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58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 marL="109728" marR="109728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Basic / Existing Approach</a:t>
                      </a:r>
                    </a:p>
                  </a:txBody>
                  <a:tcPr marL="109728" marR="109728" marT="73152" marB="73152"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Proposed Linux Service &amp; Process Supervisor</a:t>
                      </a:r>
                    </a:p>
                  </a:txBody>
                  <a:tcPr marL="109728" marR="109728" marT="73152" marB="73152" anchor="ctr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1E3A8A"/>
                          </a:solidFill>
                          <a:latin typeface="Calibri"/>
                        </a:rPr>
                        <a:t>Process Handling</a:t>
                      </a:r>
                    </a:p>
                  </a:txBody>
                  <a:tcPr marL="109728" marR="109728" marT="73152" marB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>
                          <a:solidFill>
                            <a:srgbClr val="334155"/>
                          </a:solidFill>
                          <a:latin typeface="Calibri"/>
                        </a:rPr>
                        <a:t>Manual execution &amp; CLI lookup (ps, pgrep, top, kill) requiring constant operator presence.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0F172A"/>
                          </a:solidFill>
                          <a:latin typeface="Calibri"/>
                        </a:rPr>
                        <a:t>Automated C engine (fork() + execvp()) managing 64 configured services (services.conf) with 8-state FSM.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1E3A8A"/>
                          </a:solidFill>
                          <a:latin typeface="Calibri"/>
                        </a:rPr>
                        <a:t>Inter-Process Comm.</a:t>
                      </a:r>
                    </a:p>
                  </a:txBody>
                  <a:tcPr marL="109728" marR="109728" marT="73152" marB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>
                          <a:solidFill>
                            <a:srgbClr val="334155"/>
                          </a:solidFill>
                          <a:latin typeface="Calibri"/>
                        </a:rPr>
                        <a:t>Isolated background processes with no unified output capture or external control channel.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0F172A"/>
                          </a:solidFill>
                          <a:latin typeface="Calibri"/>
                        </a:rPr>
                        <a:t>Anonymous pipe() stdout capture, /tmp/supervisor_fifo named pipe commands, &amp; POSIX shm_open() dashboard.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1E3A8A"/>
                          </a:solidFill>
                          <a:latin typeface="Calibri"/>
                        </a:rPr>
                        <a:t>Resource Monitoring</a:t>
                      </a:r>
                    </a:p>
                  </a:txBody>
                  <a:tcPr marL="109728" marR="109728" marT="73152" marB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>
                          <a:solidFill>
                            <a:srgbClr val="334155"/>
                          </a:solidFill>
                          <a:latin typeface="Calibri"/>
                        </a:rPr>
                        <a:t>Ad-hoc manual inspection; high risk of zombie processes and unclosed file descriptors.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0F172A"/>
                          </a:solidFill>
                          <a:latin typeface="Calibri"/>
                        </a:rPr>
                        <a:t>4-worker pthread pool + rwlock continuously parses /proc/[pid]/status, maps, &amp; fd (VmRSS, page faults).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1E3A8A"/>
                          </a:solidFill>
                          <a:latin typeface="Calibri"/>
                        </a:rPr>
                        <a:t>Failure &amp; Error Handling</a:t>
                      </a:r>
                    </a:p>
                  </a:txBody>
                  <a:tcPr marL="109728" marR="109728" marT="73152" marB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>
                          <a:solidFill>
                            <a:srgbClr val="334155"/>
                          </a:solidFill>
                          <a:latin typeface="Calibri"/>
                        </a:rPr>
                        <a:t>Crashed services stay offline silently until manually noticed and restarted by a human.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0F172A"/>
                          </a:solidFill>
                          <a:latin typeface="Calibri"/>
                        </a:rPr>
                        <a:t>200ms watchdog + SIGCHLD + waitpid(WNOHANG) distinguishes intentional stops vs crashes &amp; auto-restarts.</a:t>
                      </a:r>
                    </a:p>
                  </a:txBody>
                  <a:tcPr marL="109728" marR="109728" marT="73152" marB="73152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5820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1E3A8A"/>
                          </a:solidFill>
                          <a:latin typeface="Calibri"/>
                        </a:rPr>
                        <a:t>Control Interface</a:t>
                      </a:r>
                    </a:p>
                  </a:txBody>
                  <a:tcPr marL="109728" marR="109728" marT="73152" marB="73152"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>
                          <a:solidFill>
                            <a:srgbClr val="334155"/>
                          </a:solidFill>
                          <a:latin typeface="Calibri"/>
                        </a:rPr>
                        <a:t>Disconnected terminal-only commands with no visual telemetry or structured audit trail.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0F172A"/>
                          </a:solidFill>
                          <a:latin typeface="Calibri"/>
                        </a:rPr>
                        <a:t>40-command C CLI + Built-in C Socket Web Console (:8080) + React/Express WebSocket Dashboard (:3000).</a:t>
                      </a:r>
                    </a:p>
                  </a:txBody>
                  <a:tcPr marL="109728" marR="109728" marT="73152" marB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04 • STACK &amp; ENVIRONMENT
</a:t>
            </a:r>
            <a:r>
              <a:rPr sz="2200" b="1">
                <a:solidFill>
                  <a:srgbClr val="FFFFFF"/>
                </a:solidFill>
                <a:latin typeface="Calibri"/>
              </a:rPr>
              <a:t>Tools, Platforms &amp; Technologies 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5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115568"/>
            <a:ext cx="5541264" cy="2432304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43584"/>
            <a:ext cx="5212079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D4ED8"/>
                </a:solidFill>
                <a:latin typeface="Calibri"/>
              </a:rPr>
              <a:t>1. Systems Programming Core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Language: </a:t>
            </a:r>
            <a:r>
              <a:rPr sz="1280">
                <a:solidFill>
                  <a:srgbClr val="334155"/>
                </a:solidFill>
                <a:latin typeface="Calibri"/>
              </a:rPr>
              <a:t>GNU C11 (12 modular .c &amp; .h files)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Compiler: </a:t>
            </a:r>
            <a:r>
              <a:rPr sz="1280">
                <a:solidFill>
                  <a:srgbClr val="334155"/>
                </a:solidFill>
                <a:latin typeface="Calibri"/>
              </a:rPr>
              <a:t>GCC (-Wall -Wextra -g -lpthread -lrt)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Build Automation: </a:t>
            </a:r>
            <a:r>
              <a:rPr sz="1280">
                <a:solidFill>
                  <a:srgbClr val="334155"/>
                </a:solidFill>
                <a:latin typeface="Calibri"/>
              </a:rPr>
              <a:t>GNU Make (Makefile build/run/clean)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Debugging: </a:t>
            </a:r>
            <a:r>
              <a:rPr sz="1280">
                <a:solidFill>
                  <a:srgbClr val="334155"/>
                </a:solidFill>
                <a:latin typeface="Calibri"/>
              </a:rPr>
              <a:t>GDB &amp; structured supervisor.log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115568"/>
            <a:ext cx="5541264" cy="2432304"/>
          </a:xfrm>
          <a:prstGeom prst="roundRect">
            <a:avLst>
              <a:gd name="adj" fmla="val 3500"/>
            </a:avLst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243584"/>
            <a:ext cx="5212079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5803D"/>
                </a:solidFill>
                <a:latin typeface="Calibri"/>
              </a:rPr>
              <a:t>2. Linux OS &amp; Kernel Interfaces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OS Platform: </a:t>
            </a:r>
            <a:r>
              <a:rPr sz="1280">
                <a:solidFill>
                  <a:srgbClr val="334155"/>
                </a:solidFill>
                <a:latin typeface="Calibri"/>
              </a:rPr>
              <a:t>Ubuntu Linux 22.04 LTS / WSL2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Virtual FS: </a:t>
            </a:r>
            <a:r>
              <a:rPr sz="1280">
                <a:solidFill>
                  <a:srgbClr val="334155"/>
                </a:solidFill>
                <a:latin typeface="Calibri"/>
              </a:rPr>
              <a:t>Linux /proc/[pid]/{status, maps, fd, stat}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POSIX Libraries: </a:t>
            </a:r>
            <a:r>
              <a:rPr sz="1280">
                <a:solidFill>
                  <a:srgbClr val="334155"/>
                </a:solidFill>
                <a:latin typeface="Calibri"/>
              </a:rPr>
              <a:t>unistd.h, signal.h, sys/wait.h, sys/mman.h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Concurrency: </a:t>
            </a:r>
            <a:r>
              <a:rPr sz="1280">
                <a:solidFill>
                  <a:srgbClr val="334155"/>
                </a:solidFill>
                <a:latin typeface="Calibri"/>
              </a:rPr>
              <a:t>POSIX pthreads, mutex, rwlock, semaphores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30752"/>
            <a:ext cx="5541264" cy="2432304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9050">
            <a:solidFill>
              <a:srgbClr val="431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858768"/>
            <a:ext cx="5212079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3. Web Console &amp; API Gateway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Native C Server: </a:t>
            </a:r>
            <a:r>
              <a:rPr sz="1280">
                <a:solidFill>
                  <a:srgbClr val="334155"/>
                </a:solidFill>
                <a:latin typeface="Calibri"/>
              </a:rPr>
              <a:t>POSIX TCP Socket HTTP server (:8080)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Node.js API: </a:t>
            </a:r>
            <a:r>
              <a:rPr sz="1280">
                <a:solidFill>
                  <a:srgbClr val="334155"/>
                </a:solidFill>
                <a:latin typeface="Calibri"/>
              </a:rPr>
              <a:t>Express.js REST + express-ws (:5000)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React Frontend: </a:t>
            </a:r>
            <a:r>
              <a:rPr sz="1280">
                <a:solidFill>
                  <a:srgbClr val="334155"/>
                </a:solidFill>
                <a:latin typeface="Calibri"/>
              </a:rPr>
              <a:t>React 18 + Tailwind CSS 3 (:3000)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Live Streaming: </a:t>
            </a:r>
            <a:r>
              <a:rPr sz="1280">
                <a:solidFill>
                  <a:srgbClr val="334155"/>
                </a:solidFill>
                <a:latin typeface="Calibri"/>
              </a:rPr>
              <a:t>200ms atomic JSON &amp; WebSocket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730752"/>
            <a:ext cx="5541264" cy="2432304"/>
          </a:xfrm>
          <a:prstGeom prst="roundRect">
            <a:avLst>
              <a:gd name="adj" fmla="val 3500"/>
            </a:avLst>
          </a:prstGeom>
          <a:solidFill>
            <a:srgbClr val="FFFBEB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5936" y="3858768"/>
            <a:ext cx="5212079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B45309"/>
                </a:solidFill>
                <a:latin typeface="Calibri"/>
              </a:rPr>
              <a:t>4. Configuration &amp; DevOps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Service Config: </a:t>
            </a:r>
            <a:r>
              <a:rPr sz="1280">
                <a:solidFill>
                  <a:srgbClr val="334155"/>
                </a:solidFill>
                <a:latin typeface="Calibri"/>
              </a:rPr>
              <a:t>Declarative data/services.conf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IPC Endpoints: </a:t>
            </a:r>
            <a:r>
              <a:rPr sz="1280">
                <a:solidFill>
                  <a:srgbClr val="334155"/>
                </a:solidFill>
                <a:latin typeface="Calibri"/>
              </a:rPr>
              <a:t>/tmp/supervisor_fifo &amp; /supervisor_shm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Version Control: </a:t>
            </a:r>
            <a:r>
              <a:rPr sz="1280">
                <a:solidFill>
                  <a:srgbClr val="334155"/>
                </a:solidFill>
                <a:latin typeface="Calibri"/>
              </a:rPr>
              <a:t>Git &amp; GitHub structured repository</a:t>
            </a:r>
          </a:p>
          <a:p>
            <a:pPr>
              <a:spcAft>
                <a:spcPts val="700"/>
              </a:spcAft>
            </a:pPr>
            <a:r>
              <a:rPr sz="1280" b="1">
                <a:solidFill>
                  <a:srgbClr val="0F172A"/>
                </a:solidFill>
                <a:latin typeface="Calibri"/>
              </a:rPr>
              <a:t>IDE &amp; Shell: </a:t>
            </a:r>
            <a:r>
              <a:rPr sz="1280">
                <a:solidFill>
                  <a:srgbClr val="334155"/>
                </a:solidFill>
                <a:latin typeface="Calibri"/>
              </a:rPr>
              <a:t>VS Code &amp; Bash test scripts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05 • SYSTEM DESIGN
</a:t>
            </a:r>
            <a:r>
              <a:rPr sz="2200" b="1">
                <a:solidFill>
                  <a:srgbClr val="FFFFFF"/>
                </a:solidFill>
                <a:latin typeface="Calibri"/>
              </a:rPr>
              <a:t>System Workflow &amp; 4-Tier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6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745236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iagram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7223760" cy="338613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" y="5413248"/>
            <a:ext cx="7114032" cy="658368"/>
          </a:xfrm>
          <a:prstGeom prst="roundRect">
            <a:avLst>
              <a:gd name="adj" fmla="val 35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5541264"/>
            <a:ext cx="67848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Key Takeaway: </a:t>
            </a:r>
            <a:r>
              <a:rPr sz="1080">
                <a:solidFill>
                  <a:srgbClr val="334155"/>
                </a:solidFill>
                <a:latin typeface="Calibri"/>
              </a:rPr>
              <a:t>Clean user-to-kernel separation—user interfaces invoke C modules, which execute POSIX syscalls and stream telemetry back in real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31886"/>
                </a:solidFill>
                <a:latin typeface="Calibri"/>
              </a:rPr>
              <a:t>End-to-End Supervision Architecture (Input → C Engine → Kernel Syscalls → Recovery)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097280"/>
            <a:ext cx="3639312" cy="516636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9050">
            <a:solidFill>
              <a:srgbClr val="431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225295"/>
            <a:ext cx="331012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9-Step Execution Pipeline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1. Load Config: </a:t>
            </a:r>
            <a:r>
              <a:rPr sz="1130">
                <a:solidFill>
                  <a:srgbClr val="334155"/>
                </a:solidFill>
                <a:latin typeface="Calibri"/>
              </a:rPr>
              <a:t>Parse services.conf (name, cmd, priority).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2. Init Subsystems: </a:t>
            </a:r>
            <a:r>
              <a:rPr sz="1130">
                <a:solidFill>
                  <a:srgbClr val="334155"/>
                </a:solidFill>
                <a:latin typeface="Calibri"/>
              </a:rPr>
              <a:t>Setup SIGCHLD, /tmp/supervisor_fifo, /supervisor_shm, &amp; 4-worker pthread pool.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3. Spawn Service: </a:t>
            </a:r>
            <a:r>
              <a:rPr sz="1130">
                <a:solidFill>
                  <a:srgbClr val="334155"/>
                </a:solidFill>
                <a:latin typeface="Calibri"/>
              </a:rPr>
              <a:t>fork() child, bind pipe_fd[2] via dup2(), &amp; execvp().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4. Watchdog Loop: </a:t>
            </a:r>
            <a:r>
              <a:rPr sz="1130">
                <a:solidFill>
                  <a:srgbClr val="334155"/>
                </a:solidFill>
                <a:latin typeface="Calibri"/>
              </a:rPr>
              <a:t>Poll waitpid(WNOHANG) every 200 ms.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5. /proc Telemetry: </a:t>
            </a:r>
            <a:r>
              <a:rPr sz="1130">
                <a:solidFill>
                  <a:srgbClr val="334155"/>
                </a:solidFill>
                <a:latin typeface="Calibri"/>
              </a:rPr>
              <a:t>Worker threads update VmRSS, maps &amp; FDs.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6. Signal Control: </a:t>
            </a:r>
            <a:r>
              <a:rPr sz="1130">
                <a:solidFill>
                  <a:srgbClr val="334155"/>
                </a:solidFill>
                <a:latin typeface="Calibri"/>
              </a:rPr>
              <a:t>Dispatch SIGSTOP, SIGCONT, SIGTERM, SIGKILL.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7. Crash Detection: </a:t>
            </a:r>
            <a:r>
              <a:rPr sz="1130">
                <a:solidFill>
                  <a:srgbClr val="334155"/>
                </a:solidFill>
                <a:latin typeface="Calibri"/>
              </a:rPr>
              <a:t>Identify abnormal exit when intentional_stop == 0.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8. Auto-Restart: </a:t>
            </a:r>
            <a:r>
              <a:rPr sz="1130">
                <a:solidFill>
                  <a:srgbClr val="334155"/>
                </a:solidFill>
                <a:latin typeface="Calibri"/>
              </a:rPr>
              <a:t>Transition FAILED → RESTARTING → RUNNING.</a:t>
            </a:r>
          </a:p>
          <a:p>
            <a:pPr>
              <a:spcAft>
                <a:spcPts val="4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9. Audit &amp; Stream: </a:t>
            </a:r>
            <a:r>
              <a:rPr sz="1130">
                <a:solidFill>
                  <a:srgbClr val="334155"/>
                </a:solidFill>
                <a:latin typeface="Calibri"/>
              </a:rPr>
              <a:t>Log to supervisor.log &amp; push JSON/WebSocket.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06 • PROCESS &amp; IPC ENGINEERING
</a:t>
            </a:r>
            <a:r>
              <a:rPr sz="2200" b="1">
                <a:solidFill>
                  <a:srgbClr val="FFFFFF"/>
                </a:solidFill>
                <a:latin typeface="Calibri"/>
              </a:rPr>
              <a:t>Process Tree, IPC Channels &amp; 8-State Lifecycle FSM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7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745236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iagram2_process_i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7223760" cy="338613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21792" y="5413248"/>
            <a:ext cx="7114032" cy="658368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5541264"/>
            <a:ext cx="6784848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080" b="1">
                <a:solidFill>
                  <a:srgbClr val="0F172A"/>
                </a:solidFill>
                <a:latin typeface="Calibri"/>
              </a:rPr>
              <a:t>Key Takeaway: </a:t>
            </a:r>
            <a:r>
              <a:rPr sz="1080">
                <a:solidFill>
                  <a:srgbClr val="334155"/>
                </a:solidFill>
                <a:latin typeface="Calibri"/>
              </a:rPr>
              <a:t>Combines 4 IPC mechanisms (anonymous pipes, named FIFO, POSIX shared memory, &amp; signals) with an 8-state fault-tolerant FSM.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07008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9A3412"/>
                </a:solidFill>
                <a:latin typeface="Calibri"/>
              </a:rPr>
              <a:t>Parent–Child Hierarchy, POSIX IPC Endpoints &amp; ProcessState FSM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097280"/>
            <a:ext cx="3639312" cy="5166360"/>
          </a:xfrm>
          <a:prstGeom prst="roundRect">
            <a:avLst>
              <a:gd name="adj" fmla="val 3500"/>
            </a:avLst>
          </a:prstGeom>
          <a:solidFill>
            <a:srgbClr val="FFF7ED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225295"/>
            <a:ext cx="331012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9A3412"/>
                </a:solidFill>
                <a:latin typeface="Calibri"/>
              </a:rPr>
              <a:t>Key Design Mechanisms</a:t>
            </a:r>
          </a:p>
          <a:p>
            <a:pPr>
              <a:spcAft>
                <a:spcPts val="5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ManagedProcess Struct: </a:t>
            </a:r>
            <a:r>
              <a:rPr sz="1130">
                <a:solidFill>
                  <a:srgbClr val="334155"/>
                </a:solidFill>
                <a:latin typeface="Calibri"/>
              </a:rPr>
              <a:t>User-space PCB tracking pid, pgid, state, priority, restart_count, VmRSS, page faults, &amp; pipe_fd[2].</a:t>
            </a:r>
          </a:p>
          <a:p>
            <a:pPr>
              <a:spcAft>
                <a:spcPts val="5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Anonymous Pipes: </a:t>
            </a:r>
            <a:r>
              <a:rPr sz="1130">
                <a:solidFill>
                  <a:srgbClr val="334155"/>
                </a:solidFill>
                <a:latin typeface="Calibri"/>
              </a:rPr>
              <a:t>Each child's stdout/stderr redirects via dup2() into non-blocking O_NONBLOCK pipe_fd[0].</a:t>
            </a:r>
          </a:p>
          <a:p>
            <a:pPr>
              <a:spcAft>
                <a:spcPts val="5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Named FIFO IPC: </a:t>
            </a:r>
            <a:r>
              <a:rPr sz="1130">
                <a:solidFill>
                  <a:srgbClr val="334155"/>
                </a:solidFill>
                <a:latin typeface="Calibri"/>
              </a:rPr>
              <a:t>Dedicated listener thread reads external control commands on /tmp/supervisor_fifo.</a:t>
            </a:r>
          </a:p>
          <a:p>
            <a:pPr>
              <a:spcAft>
                <a:spcPts val="5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POSIX Shared Memory: </a:t>
            </a:r>
            <a:r>
              <a:rPr sz="1130">
                <a:solidFill>
                  <a:srgbClr val="334155"/>
                </a:solidFill>
                <a:latin typeface="Calibri"/>
              </a:rPr>
              <a:t>shm_open('/supervisor_shm') + mmap() exposes zero-copy live counters across processes.</a:t>
            </a:r>
          </a:p>
          <a:p>
            <a:pPr>
              <a:spcAft>
                <a:spcPts val="5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Thread Synchronization: </a:t>
            </a:r>
            <a:r>
              <a:rPr sz="1130">
                <a:solidFill>
                  <a:srgbClr val="334155"/>
                </a:solidFill>
                <a:latin typeface="Calibri"/>
              </a:rPr>
              <a:t>pthread_rwlock_t protects process table reads; mutex + sem_t coordinates 4 worker threads.</a:t>
            </a:r>
          </a:p>
          <a:p>
            <a:pPr>
              <a:spcAft>
                <a:spcPts val="550"/>
              </a:spcAft>
            </a:pPr>
            <a:r>
              <a:rPr sz="1130" b="1">
                <a:solidFill>
                  <a:srgbClr val="0F172A"/>
                </a:solidFill>
                <a:latin typeface="Calibri"/>
              </a:rPr>
              <a:t>Crash vs Stop Logic: </a:t>
            </a:r>
            <a:r>
              <a:rPr sz="1130">
                <a:solidFill>
                  <a:srgbClr val="334155"/>
                </a:solidFill>
                <a:latin typeface="Calibri"/>
              </a:rPr>
              <a:t>intentional_stop flag prevents unwanted restarts on user-requested SIGTERM stops.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07 • KERNEL APIS &amp; SYLLABUS MAPPING
</a:t>
            </a:r>
            <a:r>
              <a:rPr sz="2200" b="1">
                <a:solidFill>
                  <a:srgbClr val="FFFFFF"/>
                </a:solidFill>
                <a:latin typeface="Calibri"/>
              </a:rPr>
              <a:t>OS Concepts, Linux System Calls &amp; CO-1 to CO-6 Mapping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8 / 13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115568"/>
          <a:ext cx="11277295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6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Course Outcome</a:t>
                      </a:r>
                    </a:p>
                  </a:txBody>
                  <a:tcPr anchor="ctr">
                    <a:solidFill>
                      <a:srgbClr val="4318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OS Concept</a:t>
                      </a:r>
                    </a:p>
                  </a:txBody>
                  <a:tcPr anchor="ctr">
                    <a:solidFill>
                      <a:srgbClr val="4318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Linux System Calls / APIs</a:t>
                      </a:r>
                    </a:p>
                  </a:txBody>
                  <a:tcPr anchor="ctr">
                    <a:solidFill>
                      <a:srgbClr val="4318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 in Supervisor Project</a:t>
                      </a:r>
                    </a:p>
                  </a:txBody>
                  <a:tcPr anchor="ctr">
                    <a:solidFill>
                      <a:srgbClr val="4318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431886"/>
                          </a:solidFill>
                          <a:latin typeface="Calibri"/>
                        </a:rPr>
                        <a:t>CO-1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0F172A"/>
                          </a:solidFill>
                          <a:latin typeface="Calibri"/>
                        </a:rPr>
                        <a:t>OS Architecture &amp; Build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onsolas"/>
                        </a:rPr>
                        <a:t>GCC, Make, getpid(), getpgrp(), syscall ABI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>
                          <a:solidFill>
                            <a:srgbClr val="334155"/>
                          </a:solidFill>
                          <a:latin typeface="Calibri"/>
                        </a:rPr>
                        <a:t>Modular compilation, supervisor bootstrap, &amp; mini-shell architecture demos.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431886"/>
                          </a:solidFill>
                          <a:latin typeface="Calibri"/>
                        </a:rPr>
                        <a:t>CO-2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0F172A"/>
                          </a:solidFill>
                          <a:latin typeface="Calibri"/>
                        </a:rPr>
                        <a:t>Process &amp; CPU Scheduling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onsolas"/>
                        </a:rPr>
                        <a:t>fork(), execvp(), waitpid(WNOHANG), setpgid()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>
                          <a:solidFill>
                            <a:srgbClr val="334155"/>
                          </a:solidFill>
                          <a:latin typeface="Calibri"/>
                        </a:rPr>
                        <a:t>Child service spawning, 8-state FSM, zombie-free reaping, &amp; FCFS/RR/Priority queues.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431886"/>
                          </a:solidFill>
                          <a:latin typeface="Calibri"/>
                        </a:rPr>
                        <a:t>CO-3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0F172A"/>
                          </a:solidFill>
                          <a:latin typeface="Calibri"/>
                        </a:rPr>
                        <a:t>Signals &amp; IPC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onsolas"/>
                        </a:rPr>
                        <a:t>sigaction(), kill(), pipe(), dup2(), mkfifo()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>
                          <a:solidFill>
                            <a:srgbClr val="334155"/>
                          </a:solidFill>
                          <a:latin typeface="Calibri"/>
                        </a:rPr>
                        <a:t>SIGSTOP/SIGCONT/SIGTERM/SIGCHLD control, stdout capture, &amp; FIFO command listener.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431886"/>
                          </a:solidFill>
                          <a:latin typeface="Calibri"/>
                        </a:rPr>
                        <a:t>CO-4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0F172A"/>
                          </a:solidFill>
                          <a:latin typeface="Calibri"/>
                        </a:rPr>
                        <a:t>Memory Management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onsolas"/>
                        </a:rPr>
                        <a:t>shm_open(), ftruncate(), mmap(), /proc/maps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>
                          <a:solidFill>
                            <a:srgbClr val="334155"/>
                          </a:solidFill>
                          <a:latin typeface="Calibri"/>
                        </a:rPr>
                        <a:t>POSIX shared-memory dashboard, VmSize/VmRSS tracking, CoW &amp; page-fault demos.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431886"/>
                          </a:solidFill>
                          <a:latin typeface="Calibri"/>
                        </a:rPr>
                        <a:t>CO-5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0F172A"/>
                          </a:solidFill>
                          <a:latin typeface="Calibri"/>
                        </a:rPr>
                        <a:t>Virtual Filesystem &amp; I/O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onsolas"/>
                        </a:rPr>
                        <a:t>open(), read(), stat(), opendir(), /proc/[pid]/fd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>
                          <a:solidFill>
                            <a:srgbClr val="334155"/>
                          </a:solidFill>
                          <a:latin typeface="Calibri"/>
                        </a:rPr>
                        <a:t>Kernel VFS process inspection, inode metadata, FD table audit, &amp; atomic JSON logs.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92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431886"/>
                          </a:solidFill>
                          <a:latin typeface="Calibri"/>
                        </a:rPr>
                        <a:t>CO-6</a:t>
                      </a:r>
                    </a:p>
                  </a:txBody>
                  <a:tcPr anchor="ctr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0F172A"/>
                          </a:solidFill>
                          <a:latin typeface="Calibri"/>
                        </a:rPr>
                        <a:t>Concurrency &amp; Sync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onsolas"/>
                        </a:rPr>
                        <a:t>pthread_create(), mutex, rwlock, sem_wait()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>
                          <a:solidFill>
                            <a:srgbClr val="334155"/>
                          </a:solidFill>
                          <a:latin typeface="Calibri"/>
                        </a:rPr>
                        <a:t>4-worker telemetry thread pool, watchdog concurrency, &amp; race/deadlock avoidance.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08 • CODEBASE STRUCTURE
</a:t>
            </a:r>
            <a:r>
              <a:rPr sz="2200" b="1">
                <a:solidFill>
                  <a:srgbClr val="FFFFFF"/>
                </a:solidFill>
                <a:latin typeface="Calibri"/>
              </a:rPr>
              <a:t>Modular C Engine &amp; Full-Stack Repository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9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720840" cy="5166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25295"/>
            <a:ext cx="6391655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D4ED8"/>
                </a:solidFill>
                <a:latin typeface="Calibri"/>
              </a:rPr>
              <a:t>12 Native C Engine Modules (src/)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src/main.c &amp; config.c: </a:t>
            </a:r>
            <a:r>
              <a:rPr sz="1200">
                <a:solidFill>
                  <a:srgbClr val="334155"/>
                </a:solidFill>
                <a:latin typeface="Calibri"/>
              </a:rPr>
              <a:t>40-option interactive CLI loop, subsystem bootstrap, &amp; services.conf parser.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src/process_manager.c: </a:t>
            </a:r>
            <a:r>
              <a:rPr sz="1200">
                <a:solidFill>
                  <a:srgbClr val="334155"/>
                </a:solidFill>
                <a:latin typeface="Calibri"/>
              </a:rPr>
              <a:t>500-LOC core managing fork()/execvp(), signal actions, 200ms watchdog, &amp; JSON export.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src/ipc_manager.c: </a:t>
            </a:r>
            <a:r>
              <a:rPr sz="1200">
                <a:solidFill>
                  <a:srgbClr val="334155"/>
                </a:solidFill>
                <a:latin typeface="Calibri"/>
              </a:rPr>
              <a:t>SIGCHLD/SIGINT sigaction handlers, non-blocking pipes, cmd1|cmd2 chain, &amp; FIFO server.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src/proc_monitor.c &amp; memory_monitor.c: </a:t>
            </a:r>
            <a:r>
              <a:rPr sz="1200">
                <a:solidFill>
                  <a:srgbClr val="334155"/>
                </a:solidFill>
                <a:latin typeface="Calibri"/>
              </a:rPr>
              <a:t>/proc/[pid]/status &amp; maps parsers, shm_open() dashboard, CoW &amp; page-fault demos.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src/filesystem_monitor.c: </a:t>
            </a:r>
            <a:r>
              <a:rPr sz="1200">
                <a:solidFill>
                  <a:srgbClr val="334155"/>
                </a:solidFill>
                <a:latin typeface="Calibri"/>
              </a:rPr>
              <a:t>Open FD inspection (/proc/[pid]/fd), stat() inode info, &amp; mmap vs buffered I/O.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src/thread_pool.c &amp; scheduler.c: </a:t>
            </a:r>
            <a:r>
              <a:rPr sz="1200">
                <a:solidFill>
                  <a:srgbClr val="334155"/>
                </a:solidFill>
                <a:latin typeface="Calibri"/>
              </a:rPr>
              <a:t>4-worker POSIX pthread pool (sem_t queue) + FCFS, Round-Robin &amp; Priority ready queues.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097280"/>
            <a:ext cx="4343400" cy="2487168"/>
          </a:xfrm>
          <a:prstGeom prst="roundRect">
            <a:avLst>
              <a:gd name="adj" fmla="val 3500"/>
            </a:avLst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52944" y="1225295"/>
            <a:ext cx="4014215" cy="2267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8BDF8"/>
                </a:solidFill>
                <a:latin typeface="Calibri"/>
              </a:rPr>
              <a:t>Sample data/services.conf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1572768"/>
            <a:ext cx="4023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>
                <a:solidFill>
                  <a:srgbClr val="E2E8F0"/>
                </a:solidFill>
                <a:latin typeface="Consolas"/>
              </a:rPr>
              <a:t># name | command | priority
sleep_worker|sleep 300|5
counter_worker|while true; do echo tick; sleep 5; done|6
log_generator|while true; do date &gt;&gt; /tmp/log; sleep 3; done|4
cpu_monitor|while true; do uptime; sleep 10; done|7
heartbeat|while true; do echo heartbeat; sleep 2; done|8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749039"/>
            <a:ext cx="4343400" cy="2514600"/>
          </a:xfrm>
          <a:prstGeom prst="roundRect">
            <a:avLst>
              <a:gd name="adj" fmla="val 3500"/>
            </a:avLst>
          </a:prstGeom>
          <a:solidFill>
            <a:srgbClr val="CCFBF1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52944" y="3877055"/>
            <a:ext cx="4014215" cy="2295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0F766E"/>
                </a:solidFill>
                <a:latin typeface="Calibri"/>
              </a:rPr>
              <a:t>Dual Web Supervision Stack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src/web_server.c (:8080): </a:t>
            </a:r>
            <a:r>
              <a:rPr sz="1150">
                <a:solidFill>
                  <a:srgbClr val="334155"/>
                </a:solidFill>
                <a:latin typeface="Calibri"/>
              </a:rPr>
              <a:t>Zero-dependency multithreaded C TCP socket server serving /api/status &amp; HTML UI.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src/backend/ (:5000): </a:t>
            </a:r>
            <a:r>
              <a:rPr sz="1150">
                <a:solidFill>
                  <a:srgbClr val="334155"/>
                </a:solidFill>
                <a:latin typeface="Calibri"/>
              </a:rPr>
              <a:t>Node.js + Express REST controllers &amp; live WebSocket telemetry broadcaster.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Calibri"/>
              </a:rPr>
              <a:t>src/frontend/ (:3000): </a:t>
            </a:r>
            <a:r>
              <a:rPr sz="1150">
                <a:solidFill>
                  <a:srgbClr val="334155"/>
                </a:solidFill>
                <a:latin typeface="Calibri"/>
              </a:rPr>
              <a:t>React 18 + Tailwind CSS dashboard for Services, Processes, &amp; Live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09 • LIVE IMPLEMENTATION
</a:t>
            </a:r>
            <a:r>
              <a:rPr sz="2200" b="1">
                <a:solidFill>
                  <a:srgbClr val="FFFFFF"/>
                </a:solidFill>
                <a:latin typeface="Calibri"/>
              </a:rPr>
              <a:t>Execution Screenshots — Web Console &amp; C Supervisor CLI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10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5504688" cy="5166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25295"/>
            <a:ext cx="5175503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D4ED8"/>
                </a:solidFill>
                <a:latin typeface="Calibri"/>
              </a:rPr>
              <a:t>1. Live Web Console (http://localhost:8080)</a:t>
            </a:r>
          </a:p>
        </p:txBody>
      </p:sp>
      <p:pic>
        <p:nvPicPr>
          <p:cNvPr id="13" name="Picture 12" descr="screenshot1_web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00200"/>
            <a:ext cx="5175504" cy="331763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" y="5010912"/>
            <a:ext cx="51755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4155"/>
                </a:solidFill>
                <a:latin typeface="Calibri"/>
              </a:rPr>
              <a:t>• Displays Supervisor PID 1810, 3 RUNNING services, 1 PAUSED service (counter_worker via SIGSTOP), and 1 Auto-Restarted service (log_generator PID 1827).
• Interactive SIGSTOP, SIGCONT, SIGTERM, and SIGKILL buttons dispatch real-time POSIX signals.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1097280"/>
            <a:ext cx="5504688" cy="5166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91655" y="1225295"/>
            <a:ext cx="5175503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0F766E"/>
                </a:solidFill>
                <a:latin typeface="Calibri"/>
              </a:rPr>
              <a:t>2. Native C CLI, /proc Telemetry &amp; Auto-Restart Log</a:t>
            </a:r>
          </a:p>
        </p:txBody>
      </p:sp>
      <p:pic>
        <p:nvPicPr>
          <p:cNvPr id="17" name="Picture 16" descr="screenshot2_terminal_i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6" y="1600200"/>
            <a:ext cx="5175504" cy="331763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91656" y="5010912"/>
            <a:ext cx="51755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4155"/>
                </a:solidFill>
                <a:latin typeface="Calibri"/>
              </a:rPr>
              <a:t>• Live /proc/1818/status inspection (VmSize: 2672 kB, VmRSS: 1104 kB) &amp; CO-3 Pipe Chain (ls | wc -l).
• Proves fault tolerance: external kill -9 1822 detected immediately and respawned as PID 1827 (Restarts=1, Zombies=0).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10 • VALIDATION &amp; VIABILITY
</a:t>
            </a:r>
            <a:r>
              <a:rPr sz="2200" b="1">
                <a:solidFill>
                  <a:srgbClr val="FFFFFF"/>
                </a:solidFill>
                <a:latin typeface="Calibri"/>
              </a:rPr>
              <a:t>Testing Results &amp; 4-Dimensional Feasibility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11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6537960" cy="5166360"/>
          </a:xfrm>
          <a:prstGeom prst="roundRect">
            <a:avLst>
              <a:gd name="adj" fmla="val 3500"/>
            </a:avLst>
          </a:prstGeom>
          <a:solidFill>
            <a:srgbClr val="FFF1F2"/>
          </a:solidFill>
          <a:ln w="1905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25295"/>
            <a:ext cx="6208776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BE123C"/>
                </a:solidFill>
                <a:latin typeface="Calibri"/>
              </a:rPr>
              <a:t>Experimental Results &amp; Edge-Case Testing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Normal Lifecycle Spawn: </a:t>
            </a:r>
            <a:r>
              <a:rPr sz="1180">
                <a:solidFill>
                  <a:srgbClr val="334155"/>
                </a:solidFill>
                <a:latin typeface="Calibri"/>
              </a:rPr>
              <a:t>5 services loaded from services.conf; fork()+execvp() spawn time &lt; 2 ms per worker.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Signal State Transitions: </a:t>
            </a:r>
            <a:r>
              <a:rPr sz="1180">
                <a:solidFill>
                  <a:srgbClr val="334155"/>
                </a:solidFill>
                <a:latin typeface="Calibri"/>
              </a:rPr>
              <a:t>SIGSTOP cleanly transitions RUNNING → PAUSED; SIGCONT restores RUNNING; SIGTERM performs graceful stop without triggering false auto-restart.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Crash Recovery Benchmark: </a:t>
            </a:r>
            <a:r>
              <a:rPr sz="1180">
                <a:solidFill>
                  <a:srgbClr val="334155"/>
                </a:solidFill>
                <a:latin typeface="Calibri"/>
              </a:rPr>
              <a:t>Injected unexpected SIGKILL (kill -9 1822) on log_generator; watchdog reaped exit status and respawned PID 1827 within &lt; 200 ms.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IPC &amp; Shared Memory Sync: </a:t>
            </a:r>
            <a:r>
              <a:rPr sz="1180">
                <a:solidFill>
                  <a:srgbClr val="334155"/>
                </a:solidFill>
                <a:latin typeface="Calibri"/>
              </a:rPr>
              <a:t>Verified non-blocking pipe reads (EAGAIN on empty pipe), named FIFO commands, and /supervisor_shm RSS totals (4,460 KB).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Boundary &amp; Cleanup Safety: </a:t>
            </a:r>
            <a:r>
              <a:rPr sz="1180">
                <a:solidFill>
                  <a:srgbClr val="334155"/>
                </a:solidFill>
                <a:latin typeface="Calibri"/>
              </a:rPr>
              <a:t>Validated invalid PIDs/choices, MAX_PROCESSES=64 cap, and SIGINT shutdown leaving 0 orphan/zombie processes.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5472" y="1097280"/>
            <a:ext cx="4526280" cy="5166360"/>
          </a:xfrm>
          <a:prstGeom prst="roundRect">
            <a:avLst>
              <a:gd name="adj" fmla="val 3500"/>
            </a:avLst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0064" y="1225295"/>
            <a:ext cx="4197096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15803D"/>
                </a:solidFill>
                <a:latin typeface="Calibri"/>
              </a:rPr>
              <a:t>Feasibility Study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Technical Feasibility: </a:t>
            </a:r>
            <a:r>
              <a:rPr sz="1200">
                <a:solidFill>
                  <a:srgbClr val="334155"/>
                </a:solidFill>
                <a:latin typeface="Calibri"/>
              </a:rPr>
              <a:t>Uses standard POSIX C11 APIs, GCC, and Linux /proc VFS—natively supported across Ubuntu, Debian, Fedora, and WSL2.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Economic Feasibility: </a:t>
            </a:r>
            <a:r>
              <a:rPr sz="1200">
                <a:solidFill>
                  <a:srgbClr val="334155"/>
                </a:solidFill>
                <a:latin typeface="Calibri"/>
              </a:rPr>
              <a:t>100% free &amp; open-source toolchain with zero licensing/cloud fees and &lt; 5 MB RAM footprint.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Operational Feasibility: </a:t>
            </a:r>
            <a:r>
              <a:rPr sz="1200">
                <a:solidFill>
                  <a:srgbClr val="334155"/>
                </a:solidFill>
                <a:latin typeface="Calibri"/>
              </a:rPr>
              <a:t>Simple services.conf text config; intuitive 40-option CLI + browser dashboard usable without root privileges.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Schedule Feasibility: </a:t>
            </a:r>
            <a:r>
              <a:rPr sz="1200">
                <a:solidFill>
                  <a:srgbClr val="334155"/>
                </a:solidFill>
                <a:latin typeface="Calibri"/>
              </a:rPr>
              <a:t>Delivered on time within 10-week semester plan (Design → C Core → IPC/Pthreads &amp; Web → Testing).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C4B5FD"/>
                </a:solidFill>
                <a:latin typeface="Calibri"/>
              </a:rPr>
              <a:t>SECTION 11 • OUTCOMES &amp; ROADMAP
</a:t>
            </a:r>
            <a:r>
              <a:rPr sz="2200" b="1">
                <a:solidFill>
                  <a:srgbClr val="FFFFFF"/>
                </a:solidFill>
                <a:latin typeface="Calibri"/>
              </a:rPr>
              <a:t>Team Contributions, Conclusion &amp;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12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3639312" cy="160020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9050">
            <a:solidFill>
              <a:srgbClr val="431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25295"/>
            <a:ext cx="3310128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G. Jothi Ganesh (2520030252)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Process monitoring engine, /proc/[pid] VFS status/maps/FD telemetry, memory dashboard &amp; C 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097280"/>
            <a:ext cx="3639312" cy="160020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9050">
            <a:solidFill>
              <a:srgbClr val="431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3" y="1225295"/>
            <a:ext cx="3310128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V. Nitish Chowdhary (2520030179)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Process lifecycle control, POSIX signal dispatch (STOP/CONT/TERM/CHLD), watchdog &amp; auto-restart.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097280"/>
            <a:ext cx="3639312" cy="160020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9050">
            <a:solidFill>
              <a:srgbClr val="431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66175" y="1225295"/>
            <a:ext cx="3310128" cy="1380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P. Santhosh (2520030330)</a:t>
            </a:r>
          </a:p>
          <a:p>
            <a:pPr>
              <a:spcAft>
                <a:spcPts val="200"/>
              </a:spcAft>
            </a:pPr>
            <a:r>
              <a:rPr sz="1150">
                <a:solidFill>
                  <a:srgbClr val="334155"/>
                </a:solidFill>
                <a:latin typeface="Calibri"/>
              </a:rPr>
              <a:t>Web Console &amp; React/Node UI integration, structured event logging, edge-case testing &amp; docs.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907792"/>
            <a:ext cx="5532120" cy="3364992"/>
          </a:xfrm>
          <a:prstGeom prst="roundRect">
            <a:avLst>
              <a:gd name="adj" fmla="val 3500"/>
            </a:avLst>
          </a:prstGeom>
          <a:solidFill>
            <a:srgbClr val="ECFCCB"/>
          </a:solidFill>
          <a:ln w="19050">
            <a:solidFill>
              <a:srgbClr val="3F6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3035808"/>
            <a:ext cx="5202936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365314"/>
                </a:solidFill>
                <a:latin typeface="Calibri"/>
              </a:rPr>
              <a:t>Conclusion</a:t>
            </a:r>
          </a:p>
          <a:p>
            <a:pPr>
              <a:spcAft>
                <a:spcPts val="800"/>
              </a:spcAft>
            </a:pPr>
            <a:r>
              <a:rPr sz="1220" b="1">
                <a:solidFill>
                  <a:srgbClr val="0F172A"/>
                </a:solidFill>
                <a:latin typeface="Calibri"/>
              </a:rPr>
              <a:t>Summary: </a:t>
            </a:r>
            <a:r>
              <a:rPr sz="1220">
                <a:solidFill>
                  <a:srgbClr val="334155"/>
                </a:solidFill>
                <a:latin typeface="Calibri"/>
              </a:rPr>
              <a:t>Successfully designed and implemented a multithreaded Linux Service &amp; Process Supervisor in C (~2,100 LOC across 12 modules) paired with a live HTTP/WebSocket management console.</a:t>
            </a:r>
          </a:p>
          <a:p>
            <a:pPr>
              <a:spcAft>
                <a:spcPts val="800"/>
              </a:spcAft>
            </a:pPr>
            <a:r>
              <a:rPr sz="1220" b="1">
                <a:solidFill>
                  <a:srgbClr val="0F172A"/>
                </a:solidFill>
                <a:latin typeface="Calibri"/>
              </a:rPr>
              <a:t>OSSP Mastery: </a:t>
            </a:r>
            <a:r>
              <a:rPr sz="1220">
                <a:solidFill>
                  <a:srgbClr val="334155"/>
                </a:solidFill>
                <a:latin typeface="Calibri"/>
              </a:rPr>
              <a:t>Demonstrates cohesive real-world application of CO-1 to CO-6: fork()/execvp() process management, signal-driven state machines, pipes/FIFO/shared-memory IPC, /proc VFS inspection, and pthread synchronization.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2907792"/>
            <a:ext cx="5532120" cy="3364992"/>
          </a:xfrm>
          <a:prstGeom prst="roundRect">
            <a:avLst>
              <a:gd name="adj" fmla="val 3500"/>
            </a:avLst>
          </a:prstGeom>
          <a:solidFill>
            <a:srgbClr val="FAE8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3035808"/>
            <a:ext cx="5202936" cy="3145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6B21A8"/>
                </a:solidFill>
                <a:latin typeface="Calibri"/>
              </a:rPr>
              <a:t>Future Scope &amp; Enhancements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1. Kernel Resource Quotas (cgroups v2): </a:t>
            </a:r>
            <a:r>
              <a:rPr sz="1180">
                <a:solidFill>
                  <a:srgbClr val="334155"/>
                </a:solidFill>
                <a:latin typeface="Calibri"/>
              </a:rPr>
              <a:t>Enforce per-service CPU%, RAM, and I/O limits using Linux cgroups v2, setrlimit(), and namespaces.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2. Event-Driven Kernel Monitoring: </a:t>
            </a:r>
            <a:r>
              <a:rPr sz="1180">
                <a:solidFill>
                  <a:srgbClr val="334155"/>
                </a:solidFill>
                <a:latin typeface="Calibri"/>
              </a:rPr>
              <a:t>Replace 200ms polling with epoll() + pidfd_open() for zero-overhead instant kernel exit events.</a:t>
            </a:r>
          </a:p>
          <a:p>
            <a:pPr>
              <a:spcAft>
                <a:spcPts val="650"/>
              </a:spcAft>
            </a:pPr>
            <a:r>
              <a:rPr sz="1180" b="1">
                <a:solidFill>
                  <a:srgbClr val="0F172A"/>
                </a:solidFill>
                <a:latin typeface="Calibri"/>
              </a:rPr>
              <a:t>3. Distributed &amp; Secure Supervision: </a:t>
            </a:r>
            <a:r>
              <a:rPr sz="1180">
                <a:solidFill>
                  <a:srgbClr val="334155"/>
                </a:solidFill>
                <a:latin typeface="Calibri"/>
              </a:rPr>
              <a:t>Add exponential-backoff restart policies, SQLite/Prometheus historical metrics, TLS RBAC auth, &amp; multi-node agent clustering.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431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87552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C4B5FD"/>
                </a:solidFill>
                <a:latin typeface="Calibri"/>
              </a:rPr>
              <a:t>SECTION 12 • REFERENCES &amp; SOURCE CODE
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References, GitHub Repository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44200" y="128016"/>
            <a:ext cx="1051560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kl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7352" y="201168"/>
            <a:ext cx="905256" cy="3527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6473952"/>
            <a:ext cx="1127729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19672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64748B"/>
                </a:solidFill>
                <a:latin typeface="Calibri"/>
              </a:rPr>
              <a:t>Linux Service &amp; Process Supervisor  |  OSSP (25CS2104E)  |  Team 22, Section S9  |  Guide: Dr. Y. Harika Devi  |  KLH Bachupally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10528"/>
            <a:ext cx="121889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431886"/>
                </a:solidFill>
                <a:latin typeface="Calibri"/>
              </a:rPr>
              <a:t>13 / 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097280"/>
            <a:ext cx="7178040" cy="3246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225295"/>
            <a:ext cx="6848855" cy="30266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Calibri"/>
              </a:rPr>
              <a:t>Academic &amp; Technical References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[1] </a:t>
            </a:r>
            <a:r>
              <a:rPr sz="1200">
                <a:solidFill>
                  <a:srgbClr val="334155"/>
                </a:solidFill>
                <a:latin typeface="Calibri"/>
              </a:rPr>
              <a:t>Linux Programmer's Manual (man7.org) — fork(2), execve(2), waitpid(2), kill(2), sigaction(2), pipe(2), mkfifo(3), shm_open(3), proc(5), pthreads(7).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[2] </a:t>
            </a:r>
            <a:r>
              <a:rPr sz="1200">
                <a:solidFill>
                  <a:srgbClr val="334155"/>
                </a:solidFill>
                <a:latin typeface="Calibri"/>
              </a:rPr>
              <a:t>A. Silberschatz, P. B. Galvin, and G. Gagne, Operating System Concepts, 10th Edition, Wiley.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[3] </a:t>
            </a:r>
            <a:r>
              <a:rPr sz="1200">
                <a:solidFill>
                  <a:srgbClr val="334155"/>
                </a:solidFill>
                <a:latin typeface="Calibri"/>
              </a:rPr>
              <a:t>W. R. Stevens and S. A. Rago, Advanced Programming in the UNIX Environment, 3rd Edition, Addison-Wesley.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Calibri"/>
              </a:rPr>
              <a:t>[4] </a:t>
            </a:r>
            <a:r>
              <a:rPr sz="1200">
                <a:solidFill>
                  <a:srgbClr val="334155"/>
                </a:solidFill>
                <a:latin typeface="Calibri"/>
              </a:rPr>
              <a:t>GNU C Library (glibc), GCC Compiler &amp; IEEE Std 1003.1-2017 (POSIX.1) Official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80"/>
            <a:ext cx="7178040" cy="1737360"/>
          </a:xfrm>
          <a:prstGeom prst="roundRect">
            <a:avLst>
              <a:gd name="adj" fmla="val 3500"/>
            </a:avLst>
          </a:prstGeom>
          <a:solidFill>
            <a:srgbClr val="431886"/>
          </a:solidFill>
          <a:ln w="19050">
            <a:solidFill>
              <a:srgbClr val="2A0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6720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Thank You!  —  Questions &amp; Live Demonstration
</a:t>
            </a:r>
            <a:r>
              <a:rPr sz="1300">
                <a:solidFill>
                  <a:srgbClr val="DDD6FE"/>
                </a:solidFill>
                <a:latin typeface="Calibri"/>
              </a:rPr>
              <a:t>Team 22 (Section S9): G. Jothi Ganesh · V. Nitish Chowdhary · P. Santhosh
Guided by: Dr. Y. Harika Devi  |  KLH Bachupally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097280"/>
            <a:ext cx="3867912" cy="5166360"/>
          </a:xfrm>
          <a:prstGeom prst="roundRect">
            <a:avLst>
              <a:gd name="adj" fmla="val 3500"/>
            </a:avLst>
          </a:prstGeom>
          <a:solidFill>
            <a:srgbClr val="F5F3FF"/>
          </a:solidFill>
          <a:ln w="19050">
            <a:solidFill>
              <a:srgbClr val="4318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1" y="1225295"/>
            <a:ext cx="3538728" cy="4946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550" b="1">
                <a:solidFill>
                  <a:srgbClr val="431886"/>
                </a:solidFill>
                <a:latin typeface="Calibri"/>
              </a:rPr>
              <a:t>Project Source Code (GitHub)</a:t>
            </a:r>
          </a:p>
        </p:txBody>
      </p:sp>
      <p:pic>
        <p:nvPicPr>
          <p:cNvPr id="17" name="Picture 16" descr="qr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55648"/>
            <a:ext cx="237744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0" y="4315968"/>
            <a:ext cx="350215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0E5C"/>
                </a:solidFill>
                <a:latin typeface="Calibri"/>
              </a:rPr>
              <a:t>Scan QR to Open GitHub Repo
</a:t>
            </a:r>
            <a:r>
              <a:rPr sz="1050">
                <a:solidFill>
                  <a:srgbClr val="334155"/>
                </a:solidFill>
                <a:latin typeface="Consolas"/>
              </a:rPr>
              <a:t>github.com/logicCrafter320/
KLH_CSE_Y25_SEC9_22_Linux-Service-
and-Process-Supervisor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3340</Words>
  <Application>Microsoft Office PowerPoint</Application>
  <PresentationFormat>Widescreen</PresentationFormat>
  <Paragraphs>206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guntu.jothiganesh@outlook.com</cp:lastModifiedBy>
  <cp:revision>2</cp:revision>
  <dcterms:created xsi:type="dcterms:W3CDTF">2013-01-27T09:14:16Z</dcterms:created>
  <dcterms:modified xsi:type="dcterms:W3CDTF">2026-10-30T15:13:28Z</dcterms:modified>
  <cp:category/>
</cp:coreProperties>
</file>